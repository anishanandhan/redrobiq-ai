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Score by Rank Position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Rank 1</c:v>
                  </c:pt>
                  <c:pt idx="1">
                    <c:v>Rank 10</c:v>
                  </c:pt>
                  <c:pt idx="2">
                    <c:v>Rank 25</c:v>
                  </c:pt>
                  <c:pt idx="3">
                    <c:v>Rank 50</c:v>
                  </c:pt>
                  <c:pt idx="4">
                    <c:v>Rank 75</c:v>
                  </c:pt>
                  <c:pt idx="5">
                    <c:v>Rank 100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0.567</c:v>
                </c:pt>
                <c:pt idx="1">
                  <c:v>0.514</c:v>
                </c:pt>
                <c:pt idx="2">
                  <c:v>0.487</c:v>
                </c:pt>
                <c:pt idx="3">
                  <c:v>0.462</c:v>
                </c:pt>
                <c:pt idx="4">
                  <c:v>0.448</c:v>
                </c:pt>
                <c:pt idx="5">
                  <c:v>0.434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27432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66344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466344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3716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484632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417320"/>
            <a:ext cx="4572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RedrObIQ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Intelligent Candidate Ranking — Redrob Hackathon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Senior AI Engineer (Founding Team) · 100,000 Candidate Pool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26s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Runtime on CPU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0" y="27432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100K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74320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Candidates Ranked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External API Calls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27432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100%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Validator Pass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Built by Anish · VIT Chennai / IIT Madras CyStar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 With Keyword Matching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3D1A1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❌  Keyword Ranker Says #1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94A3B8"/>
                </a:solidFill>
              </a:rPr>
              <a:t>Name: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Candidate X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94A3B8"/>
                </a:solidFill>
              </a:rPr>
              <a:t>Title: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Marketing Manager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94A3B8"/>
                </a:solidFill>
              </a:rPr>
              <a:t>Skills: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RAG, Pinecone, LangChain, LLM,
Embeddings, FAISS, Vector DB...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94A3B8"/>
                </a:solidFill>
              </a:rPr>
              <a:t>Career: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Ran paid campaigns.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No ML deployment history.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</a:rPr>
              <a:t>Skills section stuffed with buzzwords — zero real work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0F2A1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✅  RedrObIQ Ranks #1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94A3B8"/>
                </a:solidFill>
              </a:rPr>
              <a:t>Name: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CAND_0077337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94A3B8"/>
                </a:solidFill>
              </a:rPr>
              <a:t>Title: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Staff ML Engineer @ Paytm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94A3B8"/>
                </a:solidFill>
              </a:rPr>
              <a:t>Skills: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Semantic Search, Pinecone,
QLoRA, pgvector, FAISS...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94A3B8"/>
                </a:solidFill>
              </a:rPr>
              <a:t>Career: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Shipped ranking + retrieval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0B981"/>
                </a:solidFill>
              </a:rPr>
              <a:t>systems to real users at scale.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</a:rPr>
              <a:t>Career evidence read — not just skill tags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candidates.jsonl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100,000 records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64792" y="1389888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874520" y="960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960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Extraction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4992" y="1389888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3474720" y="960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960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Pipeline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5192" y="1389888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5074920" y="960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960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Sort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Select Top 100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65392" y="1389888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6675120" y="96012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960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Ranked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+ Reasoning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1488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14884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🛡  Honeypot Filter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6974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Timeline paradoxes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Zero-duration experts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YoE vs career mismatch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21488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87168" y="2148840"/>
            <a:ext cx="1965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⚡  Skill Score (45%)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78608" y="26974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Must-have keywords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+ proficiency weighting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Nice-to-have bonus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54296" y="21488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54296" y="2148840"/>
            <a:ext cx="1965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🏗  Career Score (35%)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45736" y="26974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YoE banding · deployment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ML depth in descriptions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Product vs consulting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21424" y="214884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1424" y="214884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📡  Behavioral (20%)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12864" y="269748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Activity recency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Notice period · response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GitHub · location fit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572000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Final Score = (0.45 × Skill + 0.35 × Career + 0.20 × Behavioral) × Disqualifier Multiplier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Scoring Logic — Reading the JD Between the Lines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Must-Have Skills (JD-explicit)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D4FF"/>
                </a:solidFill>
              </a:rPr>
              <a:t>›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Embeddings: sentence-transformers, BGE, E5, OpenAI Embeddings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D4FF"/>
                </a:solidFill>
              </a:rPr>
              <a:t>›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Vector DBs: FAISS, Qdrant, Pinecone, Weaviate, OpenSearch, Milvus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D4FF"/>
                </a:solidFill>
              </a:rPr>
              <a:t>›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Evaluation frameworks: NDCG, MRR, MAP, A/B testing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D4FF"/>
                </a:solidFill>
              </a:rPr>
              <a:t>›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LLM/RAG integration: retrieval-augmented generation, re-ranking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365760" y="2404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Disqualifiers (from JD anti-pattern list)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7066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Non-ML title (marketing, ops, civil/mech) with no ML career history → score = 0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Consulting-only career (TCS/Wipro/Infosys 100%) → 30% penalty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02920" y="32552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No production mentions anywhere in career → 50% penalty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02920" y="35295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30+ skills + empty career descriptions → keyword stuffer → 90% penalty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709160" y="841248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Career Scoring — What We Read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YoE Band: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5–9yr = 1.0 | 4–10yr = 0.8 | &lt;3yr = 0.1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Deployment: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"production", "shipped", "real users", "latency"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847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ML Depth: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ranking, retrieval, embeddings in job descriptions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139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Stability: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avg tenure &lt; 24mo = title-chaser penalty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4323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Company: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product &gt; consulting; IT Services = reduced 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944368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Behavioral Scoring — Platform Signals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355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Activity: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&lt;14d = 1.0 | &gt;180d = 0.05 (not available)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648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Open to Work: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1.0 if flagged | 0.5 if not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941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Notice Period: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≤30d = 1.0 | &gt;90d = 0.1 (JD says buy-out cap 30d)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4233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Response Rate: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Direct 0–1 passthrough from recruiter signal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4526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Location: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India target cities = 1.0 | relocation = 0.7 | abroad = 0.1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Honeypot Detection — Why It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~80 honeypot candidates hidden in the 100K pool. Honeypot rate &gt; 10% in top 100 = disqualification.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0233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⏱  Timeline Paradox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start_date: 2021-01-01 but end_date: 2019-06-01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— end before start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Compare start_date vs end_date. If end &lt; start → honeypot.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4023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📅  Duration Mismatch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8013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duration_months: 84 but date range is only 14 months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— claimed 7 years, actually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0060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Compute actual months from dates. If |actual - stated| &gt; 24 → honeypot.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200400"/>
            <a:ext cx="40233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0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🏆  Zero-Evidence Expert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301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proficiency: 'expert', duration_months: 0, endorsements: 0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× 5+ skills like this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Expert/advanced + 0 months + 0 endorsements across 5+ skills → honeypot.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00400"/>
            <a:ext cx="40233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310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📊  YoE vs Career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6301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years_of_experience: 12.0 but sum of all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job durations = 3.5 years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4160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If |stated YoE - career months/12| &gt; 4 years → impossible profile.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Top 10 Ranked Candidates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4980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#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Candidate 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002536" y="7498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Title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38144" y="749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Company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462272" y="749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YoE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0" y="7498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Location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73368" y="7498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Score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060704"/>
            <a:ext cx="8595360" cy="347472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972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097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CAND_0077337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002536" y="1097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Staff ML Engineer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438144" y="1097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Paytm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462272" y="1097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7.0yr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9200" y="10972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Hyderabad 🇮🇳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373368" y="10972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D4FF"/>
                </a:solidFill>
              </a:rPr>
              <a:t>0.567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20040" y="14630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1463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CAND_0018499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002536" y="1463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Sr ML Engineer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438144" y="1463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Zomato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462272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7.2yr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0" y="1463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Noida 🇮🇳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373368" y="14630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D4FF"/>
                </a:solidFill>
              </a:rPr>
              <a:t>0.565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74320" y="1792224"/>
            <a:ext cx="8595360" cy="347472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8288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18288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CAND_0046064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002536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Sr NLP Engineer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438144" y="1828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Salesforce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462272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8.9yr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029200" y="18288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Coimbatore 🇮🇳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373368" y="18288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D4FF"/>
                </a:solidFill>
              </a:rPr>
              <a:t>0.553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320040" y="2194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" y="2194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CAND_0055905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2002536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Sr ML Engineer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438144" y="2194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Flipkart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462272" y="2194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8.1yr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029200" y="21945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London 🌍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373368" y="2194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59E0B"/>
                </a:solidFill>
              </a:rPr>
              <a:t>0.546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74320" y="2523744"/>
            <a:ext cx="8595360" cy="347472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5603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8368" y="2560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CAND_0071974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2002536" y="25603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Sr AI Engineer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3438144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Netflix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462272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7.8yr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5029200" y="2560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Vizag 🇮🇳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6373368" y="25603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D4FF"/>
                </a:solidFill>
              </a:rPr>
              <a:t>0.545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320040" y="2926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8368" y="2926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CAND_0079387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2002536" y="29260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AI Engineer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3438144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Microsoft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4462272" y="2926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6.9yr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029200" y="2926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Trivandrum 🇮🇳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6373368" y="29260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D4FF"/>
                </a:solidFill>
              </a:rPr>
              <a:t>0.531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274320" y="3255264"/>
            <a:ext cx="8595360" cy="347472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291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8368" y="3291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CAND_0005649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2002536" y="32918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Sr Data Scientist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3438144" y="3291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Sarvam AI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4462272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7.4yr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5029200" y="3291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Delhi 🇮🇳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6373368" y="32918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D4FF"/>
                </a:solidFill>
              </a:rPr>
              <a:t>0.528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320040" y="3657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8368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CAND_0080766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2002536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Staff ML Engineer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3438144" y="3657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Salesforce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4462272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8.8yr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5029200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Coimbatore 🇮🇳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6373368" y="3657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94A3B8"/>
                </a:solidFill>
              </a:rPr>
              <a:t>0.524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274320" y="3986784"/>
            <a:ext cx="8595360" cy="347472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0233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58368" y="4023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CAND_0002025</a:t>
            </a: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2002536" y="4023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Sr AI Engineer</a:t>
            </a:r>
            <a:endParaRPr lang="en-US" sz="880" dirty="0"/>
          </a:p>
        </p:txBody>
      </p:sp>
      <p:sp>
        <p:nvSpPr>
          <p:cNvPr id="75" name="Text 73"/>
          <p:cNvSpPr/>
          <p:nvPr/>
        </p:nvSpPr>
        <p:spPr>
          <a:xfrm>
            <a:off x="3438144" y="4023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Apple</a:t>
            </a:r>
            <a:endParaRPr lang="en-US" sz="880" dirty="0"/>
          </a:p>
        </p:txBody>
      </p:sp>
      <p:sp>
        <p:nvSpPr>
          <p:cNvPr id="76" name="Text 74"/>
          <p:cNvSpPr/>
          <p:nvPr/>
        </p:nvSpPr>
        <p:spPr>
          <a:xfrm>
            <a:off x="4462272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5.9yr</a:t>
            </a:r>
            <a:endParaRPr lang="en-US" sz="880" dirty="0"/>
          </a:p>
        </p:txBody>
      </p:sp>
      <p:sp>
        <p:nvSpPr>
          <p:cNvPr id="77" name="Text 75"/>
          <p:cNvSpPr/>
          <p:nvPr/>
        </p:nvSpPr>
        <p:spPr>
          <a:xfrm>
            <a:off x="5029200" y="40233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Trivandrum 🇮🇳</a:t>
            </a:r>
            <a:endParaRPr lang="en-US" sz="880" dirty="0"/>
          </a:p>
        </p:txBody>
      </p:sp>
      <p:sp>
        <p:nvSpPr>
          <p:cNvPr id="78" name="Text 76"/>
          <p:cNvSpPr/>
          <p:nvPr/>
        </p:nvSpPr>
        <p:spPr>
          <a:xfrm>
            <a:off x="6373368" y="40233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D4FF"/>
                </a:solidFill>
              </a:rPr>
              <a:t>0.518</a:t>
            </a:r>
            <a:endParaRPr lang="en-US" sz="880" dirty="0"/>
          </a:p>
        </p:txBody>
      </p:sp>
      <p:sp>
        <p:nvSpPr>
          <p:cNvPr id="79" name="Text 77"/>
          <p:cNvSpPr/>
          <p:nvPr/>
        </p:nvSpPr>
        <p:spPr>
          <a:xfrm>
            <a:off x="320040" y="4389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58368" y="4389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CAND_0008425</a:t>
            </a:r>
            <a:endParaRPr lang="en-US" sz="880" dirty="0"/>
          </a:p>
        </p:txBody>
      </p:sp>
      <p:sp>
        <p:nvSpPr>
          <p:cNvPr id="81" name="Text 79"/>
          <p:cNvSpPr/>
          <p:nvPr/>
        </p:nvSpPr>
        <p:spPr>
          <a:xfrm>
            <a:off x="2002536" y="4389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Sr NLP Engineer</a:t>
            </a:r>
            <a:endParaRPr lang="en-US" sz="880" dirty="0"/>
          </a:p>
        </p:txBody>
      </p:sp>
      <p:sp>
        <p:nvSpPr>
          <p:cNvPr id="82" name="Text 80"/>
          <p:cNvSpPr/>
          <p:nvPr/>
        </p:nvSpPr>
        <p:spPr>
          <a:xfrm>
            <a:off x="3438144" y="43891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Ola</a:t>
            </a:r>
            <a:endParaRPr lang="en-US" sz="880" dirty="0"/>
          </a:p>
        </p:txBody>
      </p:sp>
      <p:sp>
        <p:nvSpPr>
          <p:cNvPr id="83" name="Text 81"/>
          <p:cNvSpPr/>
          <p:nvPr/>
        </p:nvSpPr>
        <p:spPr>
          <a:xfrm>
            <a:off x="4462272" y="4389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7.8yr</a:t>
            </a:r>
            <a:endParaRPr lang="en-US" sz="880" dirty="0"/>
          </a:p>
        </p:txBody>
      </p:sp>
      <p:sp>
        <p:nvSpPr>
          <p:cNvPr id="84" name="Text 82"/>
          <p:cNvSpPr/>
          <p:nvPr/>
        </p:nvSpPr>
        <p:spPr>
          <a:xfrm>
            <a:off x="5029200" y="43891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Kolkata 🇮🇳</a:t>
            </a:r>
            <a:endParaRPr lang="en-US" sz="880" dirty="0"/>
          </a:p>
        </p:txBody>
      </p:sp>
      <p:sp>
        <p:nvSpPr>
          <p:cNvPr id="85" name="Text 83"/>
          <p:cNvSpPr/>
          <p:nvPr/>
        </p:nvSpPr>
        <p:spPr>
          <a:xfrm>
            <a:off x="6373368" y="4389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D4FF"/>
                </a:solidFill>
              </a:rPr>
              <a:t>0.514</a:t>
            </a:r>
            <a:endParaRPr lang="en-US" sz="880" dirty="0"/>
          </a:p>
        </p:txBody>
      </p:sp>
      <p:sp>
        <p:nvSpPr>
          <p:cNvPr id="86" name="Text 8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Score range: 0.567 (rank 1) → 0.434 (rank 100) · All top-10 are India-based ML engineers at product companies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&amp; Design Decisions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26s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Wall-clock runtime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100K candidates, CPU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87168" y="9144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87168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~2.5 GB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87168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Peak RAM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Well within 16GB limit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54296" y="9144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54296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External API calls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Fully offline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21424" y="9144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21424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21424" y="1463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Dependencies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Stdlib only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05740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03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Q: Why not sentence-transformers / embeddings?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A: 100K candidates × embedding inference on CPU = ~45min. Constraint is 5min. Feature-based scoring runs in 26s with identical interpretability.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79776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82549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Q: Why not BM25 / TF-IDF?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0540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A: The JD explicitly warns against keyword matching. A Marketing Manager with 'RAG, Pinecone, LLM' in skills scores near-zero with our ranker. BM25 would rank them top-5.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02152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5478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Q: Why hand-coded features over a learned model?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776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A: Every coefficient is traceable to a JD requirement. This makes Stage 4 reasoning accurate and auditable. No ground truth is available for training anyway.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224528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2702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Q: Why career description parsing?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A: The JD says 'Tier 5 candidate may not use the words RAG but if career shows recommendation system at product company, they fit.' We scan job descriptions, not just skill tags.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Score Distribution &amp; Reasoning Quality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841248"/>
            <a:ext cx="4069080" cy="2926080"/>
          </a:xfrm>
          <a:prstGeom prst="roundRect">
            <a:avLst>
              <a:gd name="adj" fmla="val 2500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Sample Reasoning — Rank 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37760" y="12618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7-year Staff Machine Learning Engineer at Paytm with hands-on experience in embedding systems, Qdrant, and vector search; strong Python (expert level); production ML deployment evidence throughout career.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54880" y="2057400"/>
            <a:ext cx="4069080" cy="1645920"/>
          </a:xfrm>
          <a:prstGeom prst="roundRect">
            <a:avLst>
              <a:gd name="adj" fmla="val 4444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2130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Sample Reasoning — Rank 7 (with concern flagged)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37760" y="24414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7-year Senior Data Scientist at Sarvam AI with FAISS, Pinecone, and embedding retrieval background; production deployment evidence confirmed. Concerns: 90-day notice period — exceeds the 30-day buy-out cap stated in JD.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3749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B981"/>
                </a:solidFill>
              </a:rPr>
              <a:t>✅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Specific facts from profile (title, company, named skills)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365760" y="39959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B981"/>
                </a:solidFill>
              </a:rPr>
              <a:t>✅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JD requirement connected (production deployment, notice period)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365760" y="424281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B981"/>
                </a:solidFill>
              </a:rPr>
              <a:t>✅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Concerns acknowledged honestly at lower ranks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65760" y="44897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B981"/>
                </a:solidFill>
              </a:rPr>
              <a:t>✅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No hallucination — all claims traceable to candidate data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B981"/>
                </a:solidFill>
              </a:rPr>
              <a:t>✅ 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Reasoning tone matches rank position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27432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66344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4663440"/>
            <a:ext cx="73152" cy="73152"/>
          </a:xfrm>
          <a:prstGeom prst="ellipse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417320"/>
            <a:ext cx="4572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00D4FF"/>
                </a:solidFill>
              </a:rPr>
              <a:t>RedrObIQ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Ranking candidates the way a great recruiter would.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26s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 rank 100K candidates on CPU — no GPU, no APIs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22402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3-tier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scoring: Skill + Career + Behavioral signal fusion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honeypot tolerance — impossible profiles are caught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75120" y="22402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620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100%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validator pass — submission-spec compliant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github.com/YOUR_USERNAME/redrob-ranker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Built by Anish · VIT Chennai / IIT Madras CyStar Research Intern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RedrObIQ: Intelligent Candidate Ranking</dc:title>
  <dc:subject>PptxGenJS Presentation</dc:subject>
  <dc:creator>Anish — RedrObIQ</dc:creator>
  <cp:lastModifiedBy>Anish — RedrObIQ</cp:lastModifiedBy>
  <cp:revision>1</cp:revision>
  <dcterms:created xsi:type="dcterms:W3CDTF">2026-06-11T06:43:06Z</dcterms:created>
  <dcterms:modified xsi:type="dcterms:W3CDTF">2026-06-11T06:43:06Z</dcterms:modified>
</cp:coreProperties>
</file>